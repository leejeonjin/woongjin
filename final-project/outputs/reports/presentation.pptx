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788"/>
                </a:solidFill>
              </a:defRPr>
            </a:pPr>
            <a:r>
              <a:t>서울시 따릉이 날씨 영향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Weather Impact on Seoul Bike-Sharing System</a:t>
            </a:r>
          </a:p>
          <a:p>
            <a:r>
              <a:t>September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2025-11-09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788"/>
                </a:solidFill>
              </a:defRPr>
            </a:pPr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분석 목적</a:t>
            </a:r>
          </a:p>
          <a:p>
            <a:pPr lvl="1">
              <a:defRPr sz="1800"/>
            </a:pPr>
            <a:r>
              <a:t>서울시 공공자전거 이용 데이터 + 기상 데이터 결합 분석</a:t>
            </a:r>
          </a:p>
          <a:p>
            <a:pPr lvl="1">
              <a:defRPr sz="1800"/>
            </a:pPr>
            <a:r>
              <a:t>날씨가 이용 패턴에 미치는 영향 정량화</a:t>
            </a:r>
          </a:p>
          <a:p>
            <a:pPr lvl="1">
              <a:defRPr sz="1800"/>
            </a:pPr>
            <a:r>
              <a:t>데이터 기반 운영 전략 제시</a:t>
            </a:r>
          </a:p>
          <a:p>
            <a:pPr>
              <a:defRPr sz="2000" b="1"/>
            </a:pPr>
            <a:r>
              <a:t>데이터 규모</a:t>
            </a:r>
          </a:p>
          <a:p>
            <a:pPr lvl="1">
              <a:defRPr sz="1800"/>
            </a:pPr>
            <a:r>
              <a:t>1,221,301건 (시간당 집계), 2,766개 대여소, 30일간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788"/>
                </a:solidFill>
              </a:defRPr>
            </a:pPr>
            <a:r>
              <a:t>핵심 발견사항 (Key Findings)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>
                <a:solidFill>
                  <a:srgbClr val="2E86AB"/>
                </a:solidFill>
              </a:defRPr>
            </a:pPr>
            <a:r>
              <a:t>비 오는 날 이용량 -21.95% 감소</a:t>
            </a:r>
          </a:p>
          <a:p>
            <a:pPr lvl="1">
              <a:defRPr sz="1600"/>
            </a:pPr>
            <a:r>
              <a:t>맑은 날 6.99건 → 비오는 날 5.45건</a:t>
            </a:r>
          </a:p>
          <a:p>
            <a:pPr>
              <a:defRPr sz="1800" b="1">
                <a:solidFill>
                  <a:srgbClr val="2E86AB"/>
                </a:solidFill>
              </a:defRPr>
            </a:pPr>
            <a:r>
              <a:t>일강수량 10mm 임계치 발견</a:t>
            </a:r>
          </a:p>
          <a:p>
            <a:pPr lvl="1">
              <a:defRPr sz="1600"/>
            </a:pPr>
            <a:r>
              <a:t>10mm 이상 시 -28.4% 급감</a:t>
            </a:r>
          </a:p>
          <a:p>
            <a:pPr>
              <a:defRPr sz="1800" b="1">
                <a:solidFill>
                  <a:srgbClr val="2E86AB"/>
                </a:solidFill>
              </a:defRPr>
            </a:pPr>
            <a:r>
              <a:t>퇴근 시간대(18-20시) 민감도 ↑</a:t>
            </a:r>
          </a:p>
          <a:p>
            <a:pPr lvl="1">
              <a:defRPr sz="1600"/>
            </a:pPr>
            <a:r>
              <a:t>출근 시간대보다 영향 큼</a:t>
            </a:r>
          </a:p>
          <a:p>
            <a:pPr>
              <a:defRPr sz="1800" b="1">
                <a:solidFill>
                  <a:srgbClr val="2E86AB"/>
                </a:solidFill>
              </a:defRPr>
            </a:pPr>
            <a:r>
              <a:t>대여소 유형별 차이 큼</a:t>
            </a:r>
          </a:p>
          <a:p>
            <a:pPr lvl="1">
              <a:defRPr sz="1600"/>
            </a:pPr>
            <a:r>
              <a:t>공원형 -40% / 환승형 상대적 유지</a:t>
            </a:r>
          </a:p>
          <a:p>
            <a:pPr>
              <a:defRPr sz="1800" b="1">
                <a:solidFill>
                  <a:srgbClr val="2E86AB"/>
                </a:solidFill>
              </a:defRPr>
            </a:pPr>
            <a:r>
              <a:t>집중호우 주간 효율화 기회</a:t>
            </a:r>
          </a:p>
          <a:p>
            <a:pPr lvl="1">
              <a:defRPr sz="1600"/>
            </a:pPr>
            <a:r>
              <a:t>9/17-9/23 정비 적기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788"/>
                </a:solidFill>
              </a:defRPr>
            </a:pPr>
            <a:r>
              <a:t>시간대 × 요일별 이용 패턴</a:t>
            </a:r>
          </a:p>
        </p:txBody>
      </p:sp>
      <p:pic>
        <p:nvPicPr>
          <p:cNvPr id="3" name="Picture 2" descr="heatmap_hour_week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7961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3946"/>
                </a:solidFill>
              </a:defRPr>
            </a:pPr>
            <a:r>
              <a:t>💡 평일 출퇴근 시간대 집중, 주말 오후 완만한 피크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788"/>
                </a:solidFill>
              </a:defRPr>
            </a:pPr>
            <a:r>
              <a:t>강수 구간별 이용량 변화</a:t>
            </a:r>
          </a:p>
        </p:txBody>
      </p:sp>
      <p:pic>
        <p:nvPicPr>
          <p:cNvPr id="3" name="Picture 2" descr="bar_rain_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75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3946"/>
                </a:solidFill>
              </a:defRPr>
            </a:pPr>
            <a:r>
              <a:t>💡 일강수량 10mm 임계치 발견 → -28.4% 급감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788"/>
                </a:solidFill>
              </a:defRPr>
            </a:pPr>
            <a:r>
              <a:t>시간대별 평균 이용량 추이</a:t>
            </a:r>
          </a:p>
        </p:txBody>
      </p:sp>
      <p:pic>
        <p:nvPicPr>
          <p:cNvPr id="3" name="Picture 2" descr="line_hourly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4603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3946"/>
                </a:solidFill>
              </a:defRPr>
            </a:pPr>
            <a:r>
              <a:t>💡 퇴근(18-20시) &gt; 출근(7-9시), 심야 최저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788"/>
                </a:solidFill>
              </a:defRPr>
            </a:pPr>
            <a:r>
              <a:t>대여소별 우천 감소율</a:t>
            </a:r>
          </a:p>
        </p:txBody>
      </p:sp>
      <p:pic>
        <p:nvPicPr>
          <p:cNvPr id="3" name="Picture 2" descr="bar_station_rain_impact_top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8290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3946"/>
                </a:solidFill>
              </a:defRPr>
            </a:pPr>
            <a:r>
              <a:t>💡 공원형 -40% 급감, 환승형 유지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788"/>
                </a:solidFill>
              </a:defRPr>
            </a:pPr>
            <a:r>
              <a:t>맑은 날 vs 비 오는 날</a:t>
            </a:r>
          </a:p>
        </p:txBody>
      </p:sp>
      <p:pic>
        <p:nvPicPr>
          <p:cNvPr id="3" name="Picture 2" descr="clear_vs_rain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030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3946"/>
                </a:solidFill>
              </a:defRPr>
            </a:pPr>
            <a:r>
              <a:t>💡 평일 퇴근 시간대 우천 영향 가장 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788"/>
                </a:solidFill>
              </a:defRPr>
            </a:pPr>
            <a:r>
              <a:t>종합 인사이트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E86AB"/>
                </a:solidFill>
              </a:defRPr>
            </a:pPr>
            <a:r>
              <a:t>임계치 기반 운영: 10mm 기준 회수/충전 차별화</a:t>
            </a:r>
          </a:p>
          <a:p>
            <a:pPr>
              <a:defRPr sz="2000">
                <a:solidFill>
                  <a:srgbClr val="2E86AB"/>
                </a:solidFill>
              </a:defRPr>
            </a:pPr>
            <a:r>
              <a:t>퇴근 시간대 우선 관리: 18-20시 환승역 충전 강화</a:t>
            </a:r>
          </a:p>
          <a:p>
            <a:pPr>
              <a:defRPr sz="2000">
                <a:solidFill>
                  <a:srgbClr val="2E86AB"/>
                </a:solidFill>
              </a:defRPr>
            </a:pPr>
            <a:r>
              <a:t>대여소 유형별 전략: 공원형 회수 / 환승형 유지</a:t>
            </a:r>
          </a:p>
          <a:p>
            <a:pPr>
              <a:defRPr sz="2000">
                <a:solidFill>
                  <a:srgbClr val="2E86AB"/>
                </a:solidFill>
              </a:defRPr>
            </a:pPr>
            <a:r>
              <a:t>비 오는 주간 효율화: 정비·점검 집중 투입</a:t>
            </a:r>
          </a:p>
          <a:p>
            <a:pPr>
              <a:defRPr sz="2000">
                <a:solidFill>
                  <a:srgbClr val="2E86AB"/>
                </a:solidFill>
              </a:defRPr>
            </a:pPr>
            <a:r>
              <a:t>예측 모델 고도화: 기상청 API 연계 수요 예측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788"/>
                </a:solidFill>
              </a:defRPr>
            </a:pPr>
            <a:r>
              <a:t>정책 제언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단기 (1-3개월)</a:t>
            </a:r>
          </a:p>
          <a:p>
            <a:pPr lvl="1">
              <a:defRPr sz="1600"/>
            </a:pPr>
            <a:r>
              <a:t>강수≥10mm 자동 알림 및 회수 우선</a:t>
            </a:r>
          </a:p>
          <a:p>
            <a:pPr lvl="1">
              <a:defRPr sz="1600"/>
            </a:pPr>
            <a:r>
              <a:t>퇴근 시간대 환승역 충전 강화</a:t>
            </a:r>
          </a:p>
          <a:p>
            <a:pPr>
              <a:defRPr sz="1800" b="1"/>
            </a:pPr>
            <a:r>
              <a:t>중기 (3-6개월)</a:t>
            </a:r>
          </a:p>
          <a:p>
            <a:pPr lvl="1">
              <a:defRPr sz="1600"/>
            </a:pPr>
            <a:r>
              <a:t>우천 취약 대여소 차양막 시범 설치</a:t>
            </a:r>
          </a:p>
          <a:p>
            <a:pPr lvl="1">
              <a:defRPr sz="1600"/>
            </a:pPr>
            <a:r>
              <a:t>날씨 기반 운영지침 표준화 (SOP)</a:t>
            </a:r>
          </a:p>
          <a:p>
            <a:pPr>
              <a:defRPr sz="1800" b="1"/>
            </a:pPr>
            <a:r>
              <a:t>장기 (6개월+)</a:t>
            </a:r>
          </a:p>
          <a:p>
            <a:pPr lvl="1">
              <a:defRPr sz="1600"/>
            </a:pPr>
            <a:r>
              <a:t>인프라 투자 로드맵 (800개소 차양막)</a:t>
            </a:r>
          </a:p>
          <a:p>
            <a:pPr lvl="1">
              <a:defRPr sz="1600"/>
            </a:pPr>
            <a:r>
              <a:t>데이터 기반 의사결정 체계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788"/>
                </a:solidFill>
              </a:defRPr>
            </a:pPr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E86AB"/>
                </a:solidFill>
              </a:defRPr>
            </a:pPr>
            <a:r>
              <a:t>날씨는 공공자전거 이용의 핵심 변수</a:t>
            </a:r>
          </a:p>
          <a:p>
            <a:pPr>
              <a:defRPr sz="2000">
                <a:solidFill>
                  <a:srgbClr val="2E86AB"/>
                </a:solidFill>
              </a:defRPr>
            </a:pPr>
            <a:r>
              <a:t>일강수량 10mm 임계치 → 정량적 운영 기준 확립</a:t>
            </a:r>
          </a:p>
          <a:p>
            <a:pPr>
              <a:defRPr sz="2000">
                <a:solidFill>
                  <a:srgbClr val="2E86AB"/>
                </a:solidFill>
              </a:defRPr>
            </a:pPr>
            <a:r>
              <a:t>단기/중기/장기 3단계 실행 로드맵 제시</a:t>
            </a:r>
          </a:p>
          <a:p>
            <a:pPr>
              <a:defRPr sz="2000">
                <a:solidFill>
                  <a:srgbClr val="2E86AB"/>
                </a:solidFill>
              </a:defRPr>
            </a:pPr>
            <a:r>
              <a:t>데이터 기반 의사결정 모델 구축 사례</a:t>
            </a:r>
          </a:p>
          <a:p>
            <a:pPr>
              <a:defRPr sz="2000">
                <a:solidFill>
                  <a:srgbClr val="2E86AB"/>
                </a:solidFill>
              </a:defRPr>
            </a:pPr>
            <a:r>
              <a:t>타 도시·공공 모빌리티 서비스 확장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